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74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3" d="100"/>
          <a:sy n="63" d="100"/>
        </p:scale>
        <p:origin x="78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166218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 txBox="1"/>
          <p:nvPr/>
        </p:nvSpPr>
        <p:spPr>
          <a:xfrm>
            <a:off x="548640" y="35661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400"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90899455-F456-1884-24D8-3194EB9A841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58764900"/>
              </p:ext>
            </p:extLst>
          </p:nvPr>
        </p:nvGraphicFramePr>
        <p:xfrm>
          <a:off x="690880" y="2128520"/>
          <a:ext cx="9631680" cy="2676880"/>
        </p:xfrm>
        <a:graphic>
          <a:graphicData uri="http://schemas.openxmlformats.org/drawingml/2006/table">
            <a:tbl>
              <a:tblPr firstRow="1" bandRow="1"/>
              <a:tblGrid>
                <a:gridCol w="4815840">
                  <a:extLst>
                    <a:ext uri="{9D8B030D-6E8A-4147-A177-3AD203B41FA5}">
                      <a16:colId xmlns:a16="http://schemas.microsoft.com/office/drawing/2014/main" val="3935722416"/>
                    </a:ext>
                  </a:extLst>
                </a:gridCol>
                <a:gridCol w="4815840">
                  <a:extLst>
                    <a:ext uri="{9D8B030D-6E8A-4147-A177-3AD203B41FA5}">
                      <a16:colId xmlns:a16="http://schemas.microsoft.com/office/drawing/2014/main" val="204752926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dirty="0"/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REGISTRATION NUMBER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45823122"/>
                  </a:ext>
                </a:extLst>
              </a:tr>
              <a:tr h="462224">
                <a:tc>
                  <a:txBody>
                    <a:bodyPr/>
                    <a:lstStyle/>
                    <a:p>
                      <a:r>
                        <a:rPr lang="en-US" dirty="0"/>
                        <a:t>WANDERA MARY VIVIAN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BU/UP/2025/3135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75725732"/>
                  </a:ext>
                </a:extLst>
              </a:tr>
              <a:tr h="462224">
                <a:tc>
                  <a:txBody>
                    <a:bodyPr/>
                    <a:lstStyle/>
                    <a:p>
                      <a:r>
                        <a:rPr lang="en-US" dirty="0"/>
                        <a:t>MASIKA RIHANAH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BU/UG/2025/4416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69563456"/>
                  </a:ext>
                </a:extLst>
              </a:tr>
              <a:tr h="462224">
                <a:tc>
                  <a:txBody>
                    <a:bodyPr/>
                    <a:lstStyle/>
                    <a:p>
                      <a:r>
                        <a:rPr lang="en-US" dirty="0"/>
                        <a:t>NAKAUMA PROSSY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BU/UP/2025/1972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8857729"/>
                  </a:ext>
                </a:extLst>
              </a:tr>
              <a:tr h="462224">
                <a:tc>
                  <a:txBody>
                    <a:bodyPr/>
                    <a:lstStyle/>
                    <a:p>
                      <a:r>
                        <a:rPr lang="en-US" dirty="0"/>
                        <a:t>OONYU LAWRENCE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BU/UP/2025/3132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72242569"/>
                  </a:ext>
                </a:extLst>
              </a:tr>
              <a:tr h="462224">
                <a:tc>
                  <a:txBody>
                    <a:bodyPr/>
                    <a:lstStyle/>
                    <a:p>
                      <a:r>
                        <a:rPr lang="en-US" dirty="0"/>
                        <a:t>WAMBWA DAN NYOTE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BU/UP/2025/3134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32555574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6009DA2B-7F9B-3679-9080-D6C16A004BDA}"/>
              </a:ext>
            </a:extLst>
          </p:cNvPr>
          <p:cNvSpPr txBox="1"/>
          <p:nvPr/>
        </p:nvSpPr>
        <p:spPr>
          <a:xfrm>
            <a:off x="944880" y="1717040"/>
            <a:ext cx="17549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APE GROUP ONE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A41484E-C93F-B32B-943F-26C8572C7A11}"/>
              </a:ext>
            </a:extLst>
          </p:cNvPr>
          <p:cNvSpPr txBox="1"/>
          <p:nvPr/>
        </p:nvSpPr>
        <p:spPr>
          <a:xfrm>
            <a:off x="1168400" y="1402080"/>
            <a:ext cx="24557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MATLAB ASSIGNMENT 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8740231-05A1-166E-15F7-3EB5137FCFB2}"/>
              </a:ext>
            </a:extLst>
          </p:cNvPr>
          <p:cNvSpPr txBox="1"/>
          <p:nvPr/>
        </p:nvSpPr>
        <p:spPr>
          <a:xfrm>
            <a:off x="121920" y="1534160"/>
            <a:ext cx="327152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NUMERICAL METHODS</a:t>
            </a:r>
            <a:endParaRPr lang="en-US" dirty="0"/>
          </a:p>
          <a:p>
            <a:endParaRPr lang="en-US" sz="24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3912D23-A2E5-822C-A647-B38E3F42CB1B}"/>
              </a:ext>
            </a:extLst>
          </p:cNvPr>
          <p:cNvSpPr txBox="1"/>
          <p:nvPr/>
        </p:nvSpPr>
        <p:spPr>
          <a:xfrm>
            <a:off x="193040" y="2921169"/>
            <a:ext cx="395224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sz="3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Secant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sz="3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Runge-</a:t>
            </a:r>
            <a:r>
              <a:rPr lang="en-US" sz="3000" dirty="0" err="1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Kutta</a:t>
            </a:r>
            <a:r>
              <a:rPr lang="en-US" sz="3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sz="3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Newton-Raphson</a:t>
            </a:r>
            <a:endParaRPr lang="en-US" sz="30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62098C8-4503-8297-869A-0A16F02CDF59}"/>
              </a:ext>
            </a:extLst>
          </p:cNvPr>
          <p:cNvSpPr txBox="1"/>
          <p:nvPr/>
        </p:nvSpPr>
        <p:spPr>
          <a:xfrm>
            <a:off x="5445760" y="3013502"/>
            <a:ext cx="369824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ctr">
              <a:buFont typeface="Wingdings" panose="05000000000000000000" pitchFamily="2" charset="2"/>
              <a:buChar char="§"/>
            </a:pPr>
            <a:r>
              <a:rPr lang="en-US" sz="2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Examples, pseudocode, FOR / WHILE loops and flowcharts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2163063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Secant Method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80160"/>
            <a:ext cx="11064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Secant method finds a root of f(x) = 0 without needing the derivative. It starts with two guesses and replaces the tangent line of Newton's method with the secant line through the last two points.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88036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Formula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8640" y="3383280"/>
            <a:ext cx="11064240" cy="841248"/>
          </a:xfrm>
          <a:prstGeom prst="rect">
            <a:avLst/>
          </a:prstGeom>
          <a:solidFill>
            <a:srgbClr val="FFFFFF"/>
          </a:solidFill>
          <a:ln w="25400">
            <a:solidFill>
              <a:srgbClr val="00000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3429000"/>
            <a:ext cx="106984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x(n+1) = x(n) - f(x(n)) * (x(n) - x(n-1)) / ( f(x(n)) - f(x(n-1)) )</a:t>
            </a:r>
            <a:endParaRPr lang="en-US" sz="19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4407408"/>
            <a:ext cx="11064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Example:  </a:t>
            </a:r>
            <a:r>
              <a:rPr lang="en-US" sz="2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Solve  f(x) = cos(x) - x = 0  with  x0 = 0,  x1 = 1,  tolerance = 0.000001,  N = 20.</a:t>
            </a:r>
            <a:endParaRPr lang="en-US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Secant Method: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Solve  f(x) = cos(x) - x = 0  with  x0 = 0,  x1 = 1,  tolerance = 0.000001,  N = 20.</a:t>
            </a:r>
            <a:endParaRPr lang="en-US" sz="18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148840"/>
          <a:ext cx="11064239" cy="3017520"/>
        </p:xfrm>
        <a:graphic>
          <a:graphicData uri="http://schemas.openxmlformats.org/drawingml/2006/table">
            <a:tbl>
              <a:tblPr/>
              <a:tblGrid>
                <a:gridCol w="5532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5963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596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7027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7027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65963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99156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x(i-1)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x(i)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f(x(i-1))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f(x(i))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x(i+1)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error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0.000000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1.000000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1.000000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-0.459698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0.685073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3.15e-01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1.000000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0.685073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-0.459698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0.089299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0.736299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5.12e-02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0.685073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0.736299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0.089299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0.004660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0.739119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2.82e-03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0.736299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0.739119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0.004660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-0.000057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0.739085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3.42e-05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0.739119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0.739085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-0.000057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0.000000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0.739085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2.11e-08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" name="Text 2"/>
          <p:cNvSpPr txBox="1"/>
          <p:nvPr/>
        </p:nvSpPr>
        <p:spPr>
          <a:xfrm>
            <a:off x="548640" y="56692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Root  x = 0.739085  (found after 5 iterations)</a:t>
            </a:r>
            <a:endParaRPr lang="en-US" sz="2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Secant Method: pseudocode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23444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loop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737360"/>
            <a:ext cx="5486400" cy="3895344"/>
          </a:xfrm>
          <a:prstGeom prst="rect">
            <a:avLst/>
          </a:prstGeom>
          <a:solidFill>
            <a:srgbClr val="FFFFFF"/>
          </a:solidFill>
          <a:ln w="25400">
            <a:solidFill>
              <a:srgbClr val="00000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66928" y="1783080"/>
            <a:ext cx="5266944" cy="380390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buNone/>
            </a:pPr>
            <a:r>
              <a:rPr lang="en-US" sz="17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INPUT x0, x1, tol, N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i = 1 TO N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x2 = x1 - f(x1)*(x1-x0)/(f(x1)-f(x0))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|x2 - x1| &lt; tol THEN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 x2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STOP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END IF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x0 = x1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x1 = x2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 FOR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 x2   (last estimate)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6263640" y="123444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WHILE loop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6263640" y="1737360"/>
            <a:ext cx="5486400" cy="3895344"/>
          </a:xfrm>
          <a:prstGeom prst="rect">
            <a:avLst/>
          </a:prstGeom>
          <a:solidFill>
            <a:srgbClr val="FFFFFF"/>
          </a:solidFill>
          <a:ln w="25400">
            <a:solidFill>
              <a:srgbClr val="00000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373368" y="1783080"/>
            <a:ext cx="5266944" cy="380390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buNone/>
            </a:pPr>
            <a:r>
              <a:rPr lang="en-US" sz="17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INPUT x0, x1, tol, N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 = 1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err = 1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WHILE err &gt; tol AND i &lt;= N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x2 = x1 - f(x1)*(x1-x0)/(f(x1)-f(x0))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err = |x2 - x1|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x0 = x1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x1 = x2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 = i + 1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 WHILE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 x1</a:t>
            </a:r>
            <a:endParaRPr lang="en-US" sz="1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274320"/>
            <a:ext cx="30175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Secant Method</a:t>
            </a:r>
            <a:endParaRPr lang="en-US" sz="2800" dirty="0"/>
          </a:p>
          <a:p>
            <a:pPr marL="0" indent="0">
              <a:buNone/>
            </a:pPr>
            <a:r>
              <a:rPr lang="en-US" sz="2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Flowchart: FOR loop</a:t>
            </a:r>
            <a:endParaRPr lang="en-US" sz="2800" dirty="0"/>
          </a:p>
        </p:txBody>
      </p:sp>
      <p:pic>
        <p:nvPicPr>
          <p:cNvPr id="3" name="Image 0" descr="Secant Method FOR loop flowchar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52501" y="137160"/>
            <a:ext cx="6639797" cy="653796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274320"/>
            <a:ext cx="30175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Secant Method</a:t>
            </a:r>
            <a:endParaRPr lang="en-US" sz="2800" dirty="0"/>
          </a:p>
          <a:p>
            <a:pPr marL="0" indent="0">
              <a:buNone/>
            </a:pPr>
            <a:r>
              <a:rPr lang="en-US" sz="2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Flowchart: WHILE loop</a:t>
            </a:r>
            <a:endParaRPr lang="en-US" sz="2800" dirty="0"/>
          </a:p>
        </p:txBody>
      </p:sp>
      <p:pic>
        <p:nvPicPr>
          <p:cNvPr id="3" name="Image 0" descr="Secant Method WHILE loop flowchar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14790" y="137160"/>
            <a:ext cx="2915220" cy="653796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Runge-Kutta Method (4th order)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80160"/>
            <a:ext cx="11064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Runge-Kutta (RK4) solves a first-order differential equation dy/dx = f(x, y) with y(x0) = y0. At every step it takes four slope estimates (k1 to k4) and uses their weighted average to move from x to x + h.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88036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Formula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8640" y="3383280"/>
            <a:ext cx="11064240" cy="2377440"/>
          </a:xfrm>
          <a:prstGeom prst="rect">
            <a:avLst/>
          </a:prstGeom>
          <a:solidFill>
            <a:srgbClr val="FFFFFF"/>
          </a:solidFill>
          <a:ln w="25400">
            <a:solidFill>
              <a:srgbClr val="00000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3429000"/>
            <a:ext cx="1069848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k1 = f(x, y)</a:t>
            </a:r>
            <a:endParaRPr lang="en-US" sz="1900" dirty="0"/>
          </a:p>
          <a:p>
            <a:pPr marL="0" indent="0">
              <a:buNone/>
            </a:pPr>
            <a:r>
              <a:rPr lang="en-US" sz="1900" b="1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k2 = f(x + h/2, y + h*k1/2)</a:t>
            </a:r>
            <a:endParaRPr lang="en-US" sz="1900" dirty="0"/>
          </a:p>
          <a:p>
            <a:pPr marL="0" indent="0">
              <a:buNone/>
            </a:pPr>
            <a:r>
              <a:rPr lang="en-US" sz="1900" b="1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k3 = f(x + h/2, y + h*k2/2)</a:t>
            </a:r>
            <a:endParaRPr lang="en-US" sz="1900" dirty="0"/>
          </a:p>
          <a:p>
            <a:pPr marL="0" indent="0">
              <a:buNone/>
            </a:pPr>
            <a:r>
              <a:rPr lang="en-US" sz="1900" b="1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k4 = f(x + h, y + h*k3)</a:t>
            </a:r>
            <a:endParaRPr lang="en-US" sz="1900" dirty="0"/>
          </a:p>
          <a:p>
            <a:pPr marL="0" indent="0">
              <a:buNone/>
            </a:pPr>
            <a:r>
              <a:rPr lang="en-US" sz="1900" b="1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y(new) = y + h*(k1 + 2*k2 + 2*k3 + k4)/6</a:t>
            </a:r>
            <a:endParaRPr lang="en-US" sz="19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5943600"/>
            <a:ext cx="11064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Example:  </a:t>
            </a:r>
            <a:r>
              <a:rPr lang="en-US" sz="2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Solve  dy/dx = x + y,  y(0) = 1  with step size h = 0.1 and find y(0.2). Exact solution: y = 2e^x - x - 1.</a:t>
            </a:r>
            <a:endParaRPr lang="en-US" sz="2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Runge-Kutta Method (4th order): worked example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Solve  dy/dx = x + y,  y(0) = 1  with step size h = 0.1 and find y(0.2). Exact solution: y = 2e^x - x - 1.</a:t>
            </a:r>
            <a:endParaRPr lang="en-US" sz="18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148840"/>
          <a:ext cx="11064239" cy="1508760"/>
        </p:xfrm>
        <a:graphic>
          <a:graphicData uri="http://schemas.openxmlformats.org/drawingml/2006/table">
            <a:tbl>
              <a:tblPr/>
              <a:tblGrid>
                <a:gridCol w="88513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851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4899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3835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3835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3835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438351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991563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step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x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k1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k2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k3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k4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y(new)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0.0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1.000000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1.000000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1.100000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1.105000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1.210500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1.110342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0.1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1.110342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1.210342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1.320859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1.326385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1.442980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1.242805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56692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y(0.2) = 1.242805   |   exact = 1.242806   |   error = 3.75e-07</a:t>
            </a:r>
            <a:endParaRPr lang="en-US" sz="2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Runge-Kutta Method (4th order): pseudocode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23444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loop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737360"/>
            <a:ext cx="5486400" cy="3895344"/>
          </a:xfrm>
          <a:prstGeom prst="rect">
            <a:avLst/>
          </a:prstGeom>
          <a:solidFill>
            <a:srgbClr val="FFFFFF"/>
          </a:solidFill>
          <a:ln w="25400">
            <a:solidFill>
              <a:srgbClr val="00000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66928" y="1783080"/>
            <a:ext cx="5266944" cy="380390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buNone/>
            </a:pPr>
            <a:r>
              <a:rPr lang="en-US" sz="17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INPUT x0, y0, h, n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 = x0 ; y = y0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i = 1 TO n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k1 = f(x, y)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k2 = f(x + h/2, y + h*k1/2)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k3 = f(x + h/2, y + h*k2/2)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k4 = f(x + h, y + h*k3)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y = y + h*(k1+2*k2+2*k3+k4)/6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x = x + h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 FOR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 y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6263640" y="123444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WHILE loop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6263640" y="1737360"/>
            <a:ext cx="5486400" cy="3895344"/>
          </a:xfrm>
          <a:prstGeom prst="rect">
            <a:avLst/>
          </a:prstGeom>
          <a:solidFill>
            <a:srgbClr val="FFFFFF"/>
          </a:solidFill>
          <a:ln w="25400">
            <a:solidFill>
              <a:srgbClr val="00000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373368" y="1783080"/>
            <a:ext cx="5266944" cy="380390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buNone/>
            </a:pPr>
            <a:r>
              <a:rPr lang="en-US" sz="17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INPUT x0, y0, h, xn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 = x0 ; y = y0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WHILE x &lt; xn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k1 = f(x, y)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k2 = f(x + h/2, y + h*k1/2)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k3 = f(x + h/2, y + h*k2/2)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k4 = f(x + h, y + h*k3)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y = y + h*(k1+2*k2+2*k3+k4)/6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x = x + h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 WHILE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 y</a:t>
            </a:r>
            <a:endParaRPr lang="en-US" sz="17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274320"/>
            <a:ext cx="30175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Runge-Kutta Method (4th order)</a:t>
            </a:r>
            <a:endParaRPr lang="en-US" sz="2800" dirty="0"/>
          </a:p>
          <a:p>
            <a:pPr marL="0" indent="0">
              <a:buNone/>
            </a:pPr>
            <a:r>
              <a:rPr lang="en-US" sz="2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Flowchart: FOR loop</a:t>
            </a:r>
            <a:endParaRPr lang="en-US" sz="2800" dirty="0"/>
          </a:p>
        </p:txBody>
      </p:sp>
      <p:pic>
        <p:nvPicPr>
          <p:cNvPr id="3" name="Image 0" descr="Runge-Kutta Method (4th order) FOR loop flowchar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38033" y="137160"/>
            <a:ext cx="3668734" cy="653796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274320"/>
            <a:ext cx="30175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Runge-Kutta Method (4th order)</a:t>
            </a:r>
            <a:endParaRPr lang="en-US" sz="2800" dirty="0"/>
          </a:p>
          <a:p>
            <a:pPr marL="0" indent="0">
              <a:buNone/>
            </a:pPr>
            <a:r>
              <a:rPr lang="en-US" sz="2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Flowchart: WHILE loop</a:t>
            </a:r>
            <a:endParaRPr lang="en-US" sz="2800" dirty="0"/>
          </a:p>
        </p:txBody>
      </p:sp>
      <p:pic>
        <p:nvPicPr>
          <p:cNvPr id="3" name="Image 0" descr="Runge-Kutta Method (4th order) WHILE loop flowchar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54159" y="137160"/>
            <a:ext cx="3436481" cy="653796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Newton-Raphson Method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80160"/>
            <a:ext cx="11064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Newton-Raphson finds a root of f(x) = 0 using the derivative. From a guess x0 it follows the tangent line down to the x-axis, and repeats until the change is smaller than the tolerance.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88036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Formula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8640" y="3383280"/>
            <a:ext cx="11064240" cy="841248"/>
          </a:xfrm>
          <a:prstGeom prst="rect">
            <a:avLst/>
          </a:prstGeom>
          <a:solidFill>
            <a:srgbClr val="FFFFFF"/>
          </a:solidFill>
          <a:ln w="25400">
            <a:solidFill>
              <a:srgbClr val="00000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3429000"/>
            <a:ext cx="106984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x(n+1) = x(n) - f(x(n)) / f'(x(n))</a:t>
            </a:r>
            <a:endParaRPr lang="en-US" sz="19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4407408"/>
            <a:ext cx="11064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Example:  </a:t>
            </a:r>
            <a:r>
              <a:rPr lang="en-US" sz="2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Solve  f(x) = x^3 - 2x - 5 = 0  with  f'(x) = 3x^2 - 2,  x0 = 2,  tolerance = 0.000001,  N = 20.</a:t>
            </a:r>
            <a:endParaRPr lang="en-US" sz="2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Newton-Raphson Method: worked example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Solve  f(x) = x^3 - 2x - 5 = 0  with  f'(x) = 3x^2 - 2,  x0 = 2,  tolerance = 0.000001,  N = 20.</a:t>
            </a:r>
            <a:endParaRPr lang="en-US" sz="18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148840"/>
          <a:ext cx="11064239" cy="2514600"/>
        </p:xfrm>
        <a:graphic>
          <a:graphicData uri="http://schemas.openxmlformats.org/drawingml/2006/table">
            <a:tbl>
              <a:tblPr/>
              <a:tblGrid>
                <a:gridCol w="66385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915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9156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9156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21284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1284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x(i)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f(x(i))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f'(x(i))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x(i+1)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error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2.000000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-1.000000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10.0000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2.100000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1.00e-01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2.100000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0.061000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11.2300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2.094568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5.43e-03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2.094568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0.000186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11.1616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2.094551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1.66e-05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2.094551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0.000000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11.1614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2.094551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1.56e-10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56692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Root  x = 2.094551  (found after 4 iterations)</a:t>
            </a:r>
            <a:endParaRPr lang="en-US" sz="2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Newton-Raphson Method: pseudocode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23444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loop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737360"/>
            <a:ext cx="5486400" cy="3566160"/>
          </a:xfrm>
          <a:prstGeom prst="rect">
            <a:avLst/>
          </a:prstGeom>
          <a:solidFill>
            <a:srgbClr val="FFFFFF"/>
          </a:solidFill>
          <a:ln w="25400">
            <a:solidFill>
              <a:srgbClr val="00000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66928" y="1783080"/>
            <a:ext cx="5266944" cy="34747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buNone/>
            </a:pPr>
            <a:r>
              <a:rPr lang="en-US" sz="17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INPUT x0, tol, N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i = 1 TO N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x1 = x0 - f(x0)/f'(x0)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|x1 - x0| &lt; tol THEN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 x1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STOP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END IF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x0 = x1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 FOR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 x1   (last estimate)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6263640" y="123444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WHILE loop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6263640" y="1737360"/>
            <a:ext cx="5486400" cy="3566160"/>
          </a:xfrm>
          <a:prstGeom prst="rect">
            <a:avLst/>
          </a:prstGeom>
          <a:solidFill>
            <a:srgbClr val="FFFFFF"/>
          </a:solidFill>
          <a:ln w="25400">
            <a:solidFill>
              <a:srgbClr val="00000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373368" y="1783080"/>
            <a:ext cx="5266944" cy="34747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buNone/>
            </a:pPr>
            <a:r>
              <a:rPr lang="en-US" sz="17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INPUT x0, tol, N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 = 1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err = 1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WHILE err &gt; tol AND i &lt;= N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x1 = x0 - f(x0)/f'(x0)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err = |x1 - x0|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x0 = x1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 = i + 1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 WHILE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 x0</a:t>
            </a:r>
            <a:endParaRPr lang="en-US" sz="17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274320"/>
            <a:ext cx="30175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Newton-Raphson Method</a:t>
            </a:r>
            <a:endParaRPr lang="en-US" sz="2800" dirty="0"/>
          </a:p>
          <a:p>
            <a:pPr marL="0" indent="0">
              <a:buNone/>
            </a:pPr>
            <a:r>
              <a:rPr lang="en-US" sz="2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Flowchart: FOR loop</a:t>
            </a:r>
            <a:endParaRPr lang="en-US" sz="2800" dirty="0"/>
          </a:p>
        </p:txBody>
      </p:sp>
      <p:pic>
        <p:nvPicPr>
          <p:cNvPr id="3" name="Image 0" descr="Newton-Raphson Method FOR loop flowchar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18971" y="137160"/>
            <a:ext cx="6906857" cy="653796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274320"/>
            <a:ext cx="30175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Newton-Raphson Method</a:t>
            </a:r>
            <a:endParaRPr lang="en-US" sz="2800" dirty="0"/>
          </a:p>
          <a:p>
            <a:pPr marL="0" indent="0">
              <a:buNone/>
            </a:pPr>
            <a:r>
              <a:rPr lang="en-US" sz="2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Flowchart: WHILE loop</a:t>
            </a:r>
            <a:endParaRPr lang="en-US" sz="2800" dirty="0"/>
          </a:p>
        </p:txBody>
      </p:sp>
      <p:pic>
        <p:nvPicPr>
          <p:cNvPr id="3" name="Image 0" descr="Newton-Raphson Method WHILE loop flowchar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6762" y="137160"/>
            <a:ext cx="3111275" cy="653796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</TotalTime>
  <Words>1320</Words>
  <Application>Microsoft Office PowerPoint</Application>
  <PresentationFormat>Widescreen</PresentationFormat>
  <Paragraphs>244</Paragraphs>
  <Slides>17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Arial</vt:lpstr>
      <vt:lpstr>Calibri</vt:lpstr>
      <vt:lpstr>Courier New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HP</cp:lastModifiedBy>
  <cp:revision>10</cp:revision>
  <dcterms:created xsi:type="dcterms:W3CDTF">2026-09-29T07:12:58Z</dcterms:created>
  <dcterms:modified xsi:type="dcterms:W3CDTF">2026-09-29T09:21:19Z</dcterms:modified>
</cp:coreProperties>
</file>